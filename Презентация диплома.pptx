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15059-C93A-22ED-4AF5-CD39BAF4B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095" y="103333"/>
            <a:ext cx="7918514" cy="2555026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Разработка адаптивного сайта магазина сувениров на</a:t>
            </a:r>
            <a:br>
              <a:rPr lang="ru-RU" sz="3600" dirty="0"/>
            </a:br>
            <a:r>
              <a:rPr lang="ru-RU" sz="3600" b="1" dirty="0"/>
              <a:t>базе современных технологий</a:t>
            </a: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504325-327E-0B7A-C66C-2AB16486B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2084" y="2090394"/>
            <a:ext cx="5610536" cy="386499"/>
          </a:xfrm>
        </p:spPr>
        <p:txBody>
          <a:bodyPr/>
          <a:lstStyle/>
          <a:p>
            <a:pPr algn="l"/>
            <a:r>
              <a:rPr lang="ru-RU" dirty="0"/>
              <a:t>Работу выполнил: Баженов Александр Денисович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3CB15-1306-3A1D-5617-175480CDF0C6}"/>
              </a:ext>
            </a:extLst>
          </p:cNvPr>
          <p:cNvSpPr txBox="1"/>
          <p:nvPr/>
        </p:nvSpPr>
        <p:spPr>
          <a:xfrm>
            <a:off x="2491033" y="3417216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Уважаемые члены комиссии! Представляю вашему вниманию дипломный проект, посвященный разработке интернет-магазина сувенирной продукции "</a:t>
            </a:r>
            <a:r>
              <a:rPr lang="ru-RU" dirty="0" err="1"/>
              <a:t>SouvenirShop</a:t>
            </a:r>
            <a:r>
              <a:rPr lang="ru-RU" dirty="0"/>
              <a:t>«.</a:t>
            </a:r>
          </a:p>
        </p:txBody>
      </p:sp>
    </p:spTree>
    <p:extLst>
      <p:ext uri="{BB962C8B-B14F-4D97-AF65-F5344CB8AC3E}">
        <p14:creationId xmlns:p14="http://schemas.microsoft.com/office/powerpoint/2010/main" val="22886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6864D-7912-8997-CEC6-922FD773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170" y="83543"/>
            <a:ext cx="7956560" cy="783723"/>
          </a:xfrm>
        </p:spPr>
        <p:txBody>
          <a:bodyPr/>
          <a:lstStyle/>
          <a:p>
            <a:pPr algn="l"/>
            <a:r>
              <a:rPr lang="ru-RU" dirty="0"/>
              <a:t>Введение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7406A-E8DC-676F-FDE2-34CDCB0CEFDB}"/>
              </a:ext>
            </a:extLst>
          </p:cNvPr>
          <p:cNvSpPr txBox="1"/>
          <p:nvPr/>
        </p:nvSpPr>
        <p:spPr>
          <a:xfrm>
            <a:off x="1026170" y="867266"/>
            <a:ext cx="10139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Актуальность темы обусловлена стремительным переходом маркетинга и торговли в онлайн. Сувенирный рынок имеет свою специфику — высокую эмоциональность покупок и сезонность спроса. Создание сайта "</a:t>
            </a:r>
            <a:r>
              <a:rPr lang="ru-RU" dirty="0" err="1"/>
              <a:t>SouvenirShop</a:t>
            </a:r>
            <a:r>
              <a:rPr lang="ru-RU" dirty="0"/>
              <a:t>" позволяет стереть географические границы для туристов и автоматизировать некоторые рутинные процессы продаж.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32685B-F133-3750-83D3-E7E920A78D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71"/>
          <a:stretch>
            <a:fillRect/>
          </a:stretch>
        </p:blipFill>
        <p:spPr>
          <a:xfrm>
            <a:off x="2443587" y="3205113"/>
            <a:ext cx="6539143" cy="17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8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BA2BA-412C-E4CB-EE91-7AD79A7ABC33}"/>
              </a:ext>
            </a:extLst>
          </p:cNvPr>
          <p:cNvSpPr txBox="1"/>
          <p:nvPr/>
        </p:nvSpPr>
        <p:spPr>
          <a:xfrm>
            <a:off x="1246694" y="184691"/>
            <a:ext cx="9933495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ru-RU" sz="2800" u="none" strike="noStrike" dirty="0">
                <a:effectLst/>
                <a:latin typeface="Google Sans"/>
              </a:rPr>
              <a:t>Ключевые этапы (Задачи):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2800" dirty="0">
                <a:latin typeface="Google Sans"/>
              </a:rPr>
              <a:t> Предпроектный анализ и составление ТЗ.</a:t>
            </a:r>
            <a:endParaRPr lang="ru-RU" sz="2800" b="0" u="none" strike="noStrike" dirty="0"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2800" dirty="0">
                <a:latin typeface="Google Sans"/>
              </a:rPr>
              <a:t> Проектирование объектной модели и базы данных в ОЗУ.</a:t>
            </a:r>
            <a:endParaRPr lang="ru-RU" sz="2800" b="0" u="none" strike="noStrike" dirty="0">
              <a:effectLst/>
              <a:latin typeface="Google Sans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2800" b="0" u="none" strike="noStrike" dirty="0">
                <a:effectLst/>
                <a:latin typeface="Google Sans"/>
              </a:rPr>
              <a:t> Реализация серверной логики и адаптивного интерфейса.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2800" b="0" u="none" strike="noStrike" dirty="0">
                <a:effectLst/>
                <a:latin typeface="Google Sans"/>
              </a:rPr>
              <a:t> Интеграция подсистем безопасности и администрирования.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ru-RU" sz="2800" b="0" u="none" strike="noStrike" dirty="0">
                <a:effectLst/>
                <a:latin typeface="Google Sans"/>
              </a:rPr>
              <a:t> Верификация системы и расчет экономической эффективности.</a:t>
            </a:r>
          </a:p>
        </p:txBody>
      </p:sp>
    </p:spTree>
    <p:extLst>
      <p:ext uri="{BB962C8B-B14F-4D97-AF65-F5344CB8AC3E}">
        <p14:creationId xmlns:p14="http://schemas.microsoft.com/office/powerpoint/2010/main" val="365037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DE55EA-3774-5793-6A15-7C09FFF98434}"/>
              </a:ext>
            </a:extLst>
          </p:cNvPr>
          <p:cNvSpPr txBox="1"/>
          <p:nvPr/>
        </p:nvSpPr>
        <p:spPr>
          <a:xfrm>
            <a:off x="1218414" y="237631"/>
            <a:ext cx="9801519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ru-RU" sz="2800" dirty="0"/>
              <a:t>Архитектура и технический стек проекта</a:t>
            </a:r>
            <a:r>
              <a:rPr lang="ru-RU" sz="2800" b="1" u="none" strike="noStrike" dirty="0">
                <a:effectLst/>
                <a:latin typeface="Google Sans"/>
              </a:rPr>
              <a:t>:</a:t>
            </a:r>
            <a:endParaRPr lang="ru-RU" sz="2800" b="0" u="none" strike="noStrike" dirty="0">
              <a:effectLst/>
              <a:latin typeface="Google Sans"/>
            </a:endParaRP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i="1" dirty="0">
                <a:latin typeface="Google Sans"/>
              </a:rPr>
              <a:t> Архитектурный паттерн:</a:t>
            </a:r>
            <a:r>
              <a:rPr lang="ru-RU" sz="2800" dirty="0">
                <a:latin typeface="Google Sans"/>
              </a:rPr>
              <a:t> </a:t>
            </a:r>
            <a:r>
              <a:rPr lang="en-US" sz="2800" dirty="0">
                <a:latin typeface="Google Sans"/>
              </a:rPr>
              <a:t>Model-View-Controller (MVC) — </a:t>
            </a:r>
            <a:r>
              <a:rPr lang="ru-RU" sz="2800" dirty="0">
                <a:latin typeface="Google Sans"/>
              </a:rPr>
              <a:t>разделение данных, логики и интерфейса.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i="1" dirty="0">
                <a:latin typeface="Google Sans"/>
              </a:rPr>
              <a:t>Backend:</a:t>
            </a:r>
            <a:r>
              <a:rPr lang="en-US" sz="2800" dirty="0">
                <a:latin typeface="Google Sans"/>
              </a:rPr>
              <a:t> </a:t>
            </a:r>
            <a:r>
              <a:rPr lang="ru-RU" sz="2800" dirty="0">
                <a:latin typeface="Google Sans"/>
              </a:rPr>
              <a:t>Язык </a:t>
            </a:r>
            <a:r>
              <a:rPr lang="en-US" sz="2800" dirty="0">
                <a:latin typeface="Google Sans"/>
              </a:rPr>
              <a:t>C#, </a:t>
            </a:r>
            <a:r>
              <a:rPr lang="ru-RU" sz="2800" dirty="0">
                <a:latin typeface="Google Sans"/>
              </a:rPr>
              <a:t>платформа .</a:t>
            </a:r>
            <a:r>
              <a:rPr lang="en-US" sz="2800" dirty="0">
                <a:latin typeface="Google Sans"/>
              </a:rPr>
              <a:t>NET (ASP.NET Core).</a:t>
            </a:r>
            <a:endParaRPr lang="en-US" sz="2800" b="0" u="none" strike="noStrike" dirty="0">
              <a:effectLst/>
              <a:latin typeface="Google Sans"/>
            </a:endParaRP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0" i="1" u="none" strike="noStrike" dirty="0">
                <a:effectLst/>
                <a:latin typeface="Google Sans"/>
              </a:rPr>
              <a:t> Слой данных:</a:t>
            </a:r>
            <a:r>
              <a:rPr lang="ru-RU" sz="2800" b="0" u="none" strike="noStrike" dirty="0">
                <a:effectLst/>
                <a:latin typeface="Google Sans"/>
              </a:rPr>
              <a:t> </a:t>
            </a:r>
            <a:r>
              <a:rPr lang="en-US" sz="2800" b="0" u="none" strike="noStrike" dirty="0">
                <a:effectLst/>
                <a:latin typeface="Google Sans"/>
              </a:rPr>
              <a:t>Entity Framework Core + </a:t>
            </a:r>
            <a:r>
              <a:rPr lang="ru-RU" sz="2800" b="0" u="none" strike="noStrike" dirty="0">
                <a:effectLst/>
                <a:latin typeface="Google Sans"/>
              </a:rPr>
              <a:t>провайдер </a:t>
            </a:r>
            <a:r>
              <a:rPr lang="en-US" sz="2800" u="none" strike="noStrike" dirty="0" err="1">
                <a:effectLst/>
                <a:latin typeface="Google Sans"/>
              </a:rPr>
              <a:t>InMemoryDatabase</a:t>
            </a:r>
            <a:r>
              <a:rPr lang="en-US" sz="2800" b="0" u="none" strike="noStrike" dirty="0">
                <a:effectLst/>
                <a:latin typeface="Google Sans"/>
              </a:rPr>
              <a:t> (</a:t>
            </a:r>
            <a:r>
              <a:rPr lang="ru-RU" sz="2800" b="0" u="none" strike="noStrike" dirty="0">
                <a:effectLst/>
                <a:latin typeface="Google Sans"/>
              </a:rPr>
              <a:t>ОЗУ).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0" i="1" u="none" strike="noStrike" dirty="0">
                <a:effectLst/>
                <a:latin typeface="Google Sans"/>
              </a:rPr>
              <a:t> Инициализация:</a:t>
            </a:r>
            <a:r>
              <a:rPr lang="ru-RU" sz="2800" b="0" u="none" strike="noStrike" dirty="0">
                <a:effectLst/>
                <a:latin typeface="Google Sans"/>
              </a:rPr>
              <a:t> Автоматический механизм </a:t>
            </a:r>
            <a:r>
              <a:rPr lang="en-US" sz="2800" b="0" i="1" u="none" strike="noStrike" dirty="0">
                <a:effectLst/>
                <a:latin typeface="Google Sans"/>
              </a:rPr>
              <a:t>Data Seeding</a:t>
            </a:r>
            <a:r>
              <a:rPr lang="en-US" sz="2800" b="0" u="none" strike="noStrike" dirty="0">
                <a:effectLst/>
                <a:latin typeface="Google Sans"/>
              </a:rPr>
              <a:t> </a:t>
            </a:r>
            <a:r>
              <a:rPr lang="ru-RU" sz="2800" b="0" u="none" strike="noStrike" dirty="0">
                <a:effectLst/>
                <a:latin typeface="Google Sans"/>
              </a:rPr>
              <a:t>при старте сервера </a:t>
            </a:r>
            <a:r>
              <a:rPr lang="en-US" sz="2800" b="0" u="none" strike="noStrike" dirty="0">
                <a:effectLst/>
                <a:latin typeface="Google Sans"/>
              </a:rPr>
              <a:t>Kestrel.</a:t>
            </a:r>
          </a:p>
          <a:p>
            <a:pPr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ru-RU" sz="2800" b="0" i="1" u="none" strike="noStrike" dirty="0">
                <a:effectLst/>
                <a:latin typeface="Google Sans"/>
              </a:rPr>
              <a:t> </a:t>
            </a:r>
            <a:r>
              <a:rPr lang="en-US" sz="2800" b="0" i="1" u="none" strike="noStrike" dirty="0">
                <a:effectLst/>
                <a:latin typeface="Google Sans"/>
              </a:rPr>
              <a:t>Frontend:</a:t>
            </a:r>
            <a:r>
              <a:rPr lang="en-US" sz="2800" b="0" u="none" strike="noStrike" dirty="0">
                <a:effectLst/>
                <a:latin typeface="Google Sans"/>
              </a:rPr>
              <a:t> HTML5, CSS3, </a:t>
            </a:r>
            <a:r>
              <a:rPr lang="ru-RU" sz="2800" b="0" u="none" strike="noStrike" dirty="0">
                <a:effectLst/>
                <a:latin typeface="Google Sans"/>
              </a:rPr>
              <a:t>фреймворк </a:t>
            </a:r>
            <a:r>
              <a:rPr lang="en-US" sz="2800" b="0" u="none" strike="noStrike" dirty="0">
                <a:effectLst/>
                <a:latin typeface="Google Sans"/>
              </a:rPr>
              <a:t>Bootstrap, </a:t>
            </a:r>
            <a:r>
              <a:rPr lang="ru-RU" sz="2800" b="0" u="none" strike="noStrike" dirty="0">
                <a:effectLst/>
                <a:latin typeface="Google Sans"/>
              </a:rPr>
              <a:t>библиотека </a:t>
            </a:r>
            <a:r>
              <a:rPr lang="en-US" sz="2800" b="0" u="none" strike="noStrike" dirty="0">
                <a:effectLst/>
                <a:latin typeface="Google Sans"/>
              </a:rPr>
              <a:t>jQuery (AJAX).</a:t>
            </a:r>
          </a:p>
        </p:txBody>
      </p:sp>
    </p:spTree>
    <p:extLst>
      <p:ext uri="{BB962C8B-B14F-4D97-AF65-F5344CB8AC3E}">
        <p14:creationId xmlns:p14="http://schemas.microsoft.com/office/powerpoint/2010/main" val="394264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50B215-3F2F-49D0-3DB7-59D0653FCFC9}"/>
              </a:ext>
            </a:extLst>
          </p:cNvPr>
          <p:cNvSpPr txBox="1"/>
          <p:nvPr/>
        </p:nvSpPr>
        <p:spPr>
          <a:xfrm>
            <a:off x="1237268" y="107565"/>
            <a:ext cx="987693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В представляемом мной проекте реализован функционал аккаунтов, авторизации и регистрации: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3BB2A3-E7F7-9B01-DB85-C3416F3B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7"/>
          <a:stretch>
            <a:fillRect/>
          </a:stretch>
        </p:blipFill>
        <p:spPr>
          <a:xfrm>
            <a:off x="1237268" y="1542787"/>
            <a:ext cx="3419573" cy="29243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F57537-8E48-A057-F9D3-AF2303AA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27" y="1540602"/>
            <a:ext cx="3419574" cy="29260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710195-37F8-7D22-109B-25486FF5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67" y="2656002"/>
            <a:ext cx="2924134" cy="332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28A9B3-3348-9BEB-59CC-997CFC0016C5}"/>
              </a:ext>
            </a:extLst>
          </p:cNvPr>
          <p:cNvSpPr txBox="1"/>
          <p:nvPr/>
        </p:nvSpPr>
        <p:spPr>
          <a:xfrm>
            <a:off x="1067585" y="220685"/>
            <a:ext cx="100560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rial" panose="020B0604020202020204" pitchFamily="34" charset="0"/>
              </a:rPr>
              <a:t>Так же в проекте реализована механика заказов и товаров, а так же всевозможных действий с ними: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0762EC-4D10-8B06-7D87-E550CD23F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180" y="2252900"/>
            <a:ext cx="2162433" cy="25306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EC702F-7E4E-3586-BEBE-C2B9943A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256" y="2252900"/>
            <a:ext cx="1651781" cy="34417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5E2044-1302-4F25-E073-E55D74DC7C8F}"/>
              </a:ext>
            </a:extLst>
          </p:cNvPr>
          <p:cNvSpPr txBox="1"/>
          <p:nvPr/>
        </p:nvSpPr>
        <p:spPr>
          <a:xfrm>
            <a:off x="1699180" y="1261856"/>
            <a:ext cx="4396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Arial" panose="020B0604020202020204" pitchFamily="34" charset="0"/>
              </a:rPr>
              <a:t>Интерфейс работы с товарами от лица пользователя: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AAB11-89FC-119C-CCBC-082100A3DD42}"/>
              </a:ext>
            </a:extLst>
          </p:cNvPr>
          <p:cNvSpPr txBox="1"/>
          <p:nvPr/>
        </p:nvSpPr>
        <p:spPr>
          <a:xfrm>
            <a:off x="6096001" y="1255722"/>
            <a:ext cx="4396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</a:rPr>
              <a:t>Интерфейс работы с товарами от лица администратора:</a:t>
            </a:r>
            <a:endParaRPr lang="ru-RU" dirty="0"/>
          </a:p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0846245-37EF-13FA-8EA1-17444C91E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965" y="2252900"/>
            <a:ext cx="1469744" cy="422411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0C75AF0-56B9-36A3-3F98-2A5D7096E1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975"/>
          <a:stretch>
            <a:fillRect/>
          </a:stretch>
        </p:blipFill>
        <p:spPr>
          <a:xfrm>
            <a:off x="8159637" y="2252900"/>
            <a:ext cx="2049591" cy="421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73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35A151-D00C-FFA3-FDF4-7C6B4ED5F95D}"/>
              </a:ext>
            </a:extLst>
          </p:cNvPr>
          <p:cNvSpPr txBox="1"/>
          <p:nvPr/>
        </p:nvSpPr>
        <p:spPr>
          <a:xfrm>
            <a:off x="1231769" y="142916"/>
            <a:ext cx="9728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</a:rPr>
              <a:t>Спасибо за внимание!</a:t>
            </a:r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A2613-7654-3AD5-E4D8-824CF612EB3A}"/>
              </a:ext>
            </a:extLst>
          </p:cNvPr>
          <p:cNvSpPr txBox="1"/>
          <p:nvPr/>
        </p:nvSpPr>
        <p:spPr>
          <a:xfrm>
            <a:off x="1231769" y="1874728"/>
            <a:ext cx="97284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В заключение отмечу, что созданный интернет-магазин "</a:t>
            </a:r>
            <a:r>
              <a:rPr lang="ru-RU" sz="2800" dirty="0" err="1"/>
              <a:t>SouvenirShop</a:t>
            </a:r>
            <a:r>
              <a:rPr lang="ru-RU" sz="2800" dirty="0"/>
              <a:t>" представляет собой гибкий, масштабируемый продукт. В ходе работы были освоены передовые веб-технологии. Архитектура готова к мгновенному переключению на промышленную базу данных. Доклад окончен!</a:t>
            </a:r>
          </a:p>
        </p:txBody>
      </p:sp>
    </p:spTree>
    <p:extLst>
      <p:ext uri="{BB962C8B-B14F-4D97-AF65-F5344CB8AC3E}">
        <p14:creationId xmlns:p14="http://schemas.microsoft.com/office/powerpoint/2010/main" val="3260760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{C79BD280-CA33-4D71-9941-BF628A54FBBF}TF37254b02-f5b5-44b0-803d-e6af9466a02430b15390-63aae61ef10a</Template>
  <TotalTime>85</TotalTime>
  <Words>286</Words>
  <Application>Microsoft Office PowerPoint</Application>
  <PresentationFormat>Широкоэкранный</PresentationFormat>
  <Paragraphs>23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Google Sans</vt:lpstr>
      <vt:lpstr>MS Shell Dlg 2</vt:lpstr>
      <vt:lpstr>Wingdings</vt:lpstr>
      <vt:lpstr>Wingdings 3</vt:lpstr>
      <vt:lpstr>Мэдисон</vt:lpstr>
      <vt:lpstr>Разработка адаптивного сайта магазина сувениров на базе современных технологий</vt:lpstr>
      <vt:lpstr>Введение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Баженов</dc:creator>
  <cp:lastModifiedBy>Александр Баженов</cp:lastModifiedBy>
  <cp:revision>8</cp:revision>
  <dcterms:created xsi:type="dcterms:W3CDTF">2026-06-21T21:02:19Z</dcterms:created>
  <dcterms:modified xsi:type="dcterms:W3CDTF">2026-06-21T22:27:30Z</dcterms:modified>
</cp:coreProperties>
</file>